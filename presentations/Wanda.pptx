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857400" y="685800"/>
            <a:ext cx="34291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" name="Google Shape;31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9" Type="http://schemas.openxmlformats.org/officeDocument/2006/relationships/image" Target="../media/image4.png"/><Relationship Id="rId5" Type="http://schemas.openxmlformats.org/officeDocument/2006/relationships/image" Target="../media/image2.png"/><Relationship Id="rId6" Type="http://schemas.openxmlformats.org/officeDocument/2006/relationships/image" Target="../media/image3.png"/><Relationship Id="rId7" Type="http://schemas.openxmlformats.org/officeDocument/2006/relationships/image" Target="../media/image5.png"/><Relationship Id="rId8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538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2" name="Google Shape;1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365760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"/>
          <p:cNvSpPr/>
          <p:nvPr/>
        </p:nvSpPr>
        <p:spPr>
          <a:xfrm>
            <a:off x="1280160" y="320040"/>
            <a:ext cx="74066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Font typeface="Calibri"/>
              <a:buNone/>
            </a:pPr>
            <a:r>
              <a:rPr b="1" i="0" lang="en-US" sz="5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Wanda</a:t>
            </a:r>
            <a:endParaRPr b="0" i="0" sz="5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3"/>
          <p:cNvSpPr/>
          <p:nvPr/>
        </p:nvSpPr>
        <p:spPr>
          <a:xfrm>
            <a:off x="457200" y="114300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2200"/>
              <a:buFont typeface="Georgia"/>
              <a:buNone/>
            </a:pPr>
            <a:r>
              <a:rPr b="0" i="1" lang="en-US" sz="2200" u="none" cap="none" strike="noStrike">
                <a:solidFill>
                  <a:srgbClr val="CADCFC"/>
                </a:solidFill>
                <a:latin typeface="Georgia"/>
                <a:ea typeface="Georgia"/>
                <a:cs typeface="Georgia"/>
                <a:sym typeface="Georgia"/>
              </a:rPr>
              <a:t>Pipeline failures: hours → minutes.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3"/>
          <p:cNvSpPr/>
          <p:nvPr/>
        </p:nvSpPr>
        <p:spPr>
          <a:xfrm>
            <a:off x="457200" y="16916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A3D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8AA3D4"/>
                </a:solidFill>
                <a:latin typeface="Calibri"/>
                <a:ea typeface="Calibri"/>
                <a:cs typeface="Calibri"/>
                <a:sym typeface="Calibri"/>
              </a:rPr>
              <a:t>FOR DATA ENGINEERS &amp; BI TEAMS ON MICROSOFT FABRIC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3"/>
          <p:cNvSpPr/>
          <p:nvPr/>
        </p:nvSpPr>
        <p:spPr>
          <a:xfrm>
            <a:off x="457200" y="2148840"/>
            <a:ext cx="49377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The problem  </a:t>
            </a:r>
            <a:r>
              <a:rPr b="0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When a Fabric pipeline fails, engineers spend hours manually walking pipeline → activity → notebook → SQL → data to find the root cause. Often at 2am.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457200" y="3291840"/>
            <a:ext cx="49377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Wanda  </a:t>
            </a:r>
            <a:r>
              <a:rPr b="0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is an agent, not a script. Drop it into a notebook with a run ID — it autonomously investigates the pipeline and produces an evidence-backed root-cause report.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5669280" y="2148840"/>
            <a:ext cx="3017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A3D4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rgbClr val="8AA3D4"/>
                </a:solidFill>
                <a:latin typeface="Calibri"/>
                <a:ea typeface="Calibri"/>
                <a:cs typeface="Calibri"/>
                <a:sym typeface="Calibri"/>
              </a:rPr>
              <a:t>Hours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" name="Google Shape;19;p3"/>
          <p:cNvCxnSpPr/>
          <p:nvPr/>
        </p:nvCxnSpPr>
        <p:spPr>
          <a:xfrm>
            <a:off x="5669280" y="2743200"/>
            <a:ext cx="3017520" cy="0"/>
          </a:xfrm>
          <a:prstGeom prst="straightConnector1">
            <a:avLst/>
          </a:prstGeom>
          <a:noFill/>
          <a:ln cap="flat" cmpd="sng" w="12700">
            <a:solidFill>
              <a:srgbClr val="8AA3D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" name="Google Shape;20;p3"/>
          <p:cNvSpPr/>
          <p:nvPr/>
        </p:nvSpPr>
        <p:spPr>
          <a:xfrm>
            <a:off x="5669280" y="2788920"/>
            <a:ext cx="30175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→  </a:t>
            </a:r>
            <a:r>
              <a:rPr b="1" i="0" lang="en-US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Minutes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5669280" y="3611880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A3D4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8AA3D4"/>
                </a:solidFill>
                <a:latin typeface="Calibri"/>
                <a:ea typeface="Calibri"/>
                <a:cs typeface="Calibri"/>
                <a:sym typeface="Calibri"/>
              </a:rPr>
              <a:t>Mean time to root cause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5669280" y="4023360"/>
            <a:ext cx="1417320" cy="640080"/>
          </a:xfrm>
          <a:prstGeom prst="rect">
            <a:avLst/>
          </a:prstGeom>
          <a:solidFill>
            <a:srgbClr val="3D4A8C"/>
          </a:solidFill>
          <a:ln cap="flat" cmpd="sng" w="9525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5669280" y="4069080"/>
            <a:ext cx="1417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PRE-RUN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5669280" y="4315968"/>
            <a:ext cx="1417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scan before execute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7269480" y="4023360"/>
            <a:ext cx="1417320" cy="640080"/>
          </a:xfrm>
          <a:prstGeom prst="rect">
            <a:avLst/>
          </a:prstGeom>
          <a:solidFill>
            <a:srgbClr val="3D4A8C"/>
          </a:solidFill>
          <a:ln cap="flat" cmpd="sng" w="9525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7269480" y="4069080"/>
            <a:ext cx="1417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POST-FAILURE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7269480" y="4315968"/>
            <a:ext cx="1417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root-cause report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A3D4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8AA3D4"/>
                </a:solidFill>
                <a:latin typeface="Calibri"/>
                <a:ea typeface="Calibri"/>
                <a:cs typeface="Calibri"/>
                <a:sym typeface="Calibri"/>
              </a:rPr>
              <a:t>Vancouver Web Summit 2026  ·  GitHub Copilot SDK Hackathon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538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4" name="Google Shape;3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27432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4"/>
          <p:cNvSpPr/>
          <p:nvPr/>
        </p:nvSpPr>
        <p:spPr>
          <a:xfrm>
            <a:off x="1005840" y="256032"/>
            <a:ext cx="7680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Agent Wanda Architecture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457200" y="749808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A3D4"/>
              </a:buClr>
              <a:buSzPts val="1200"/>
              <a:buFont typeface="Georgia"/>
              <a:buNone/>
            </a:pPr>
            <a:r>
              <a:rPr i="1" lang="en-US" sz="1200">
                <a:solidFill>
                  <a:srgbClr val="8AA3D4"/>
                </a:solidFill>
                <a:latin typeface="Georgia"/>
                <a:ea typeface="Georgia"/>
                <a:cs typeface="Georgia"/>
                <a:sym typeface="Georgia"/>
              </a:rPr>
              <a:t>An agent loop with custom MCP tools — decides what to investigate based on what it finds.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3163824" y="1083056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LLM  ·  Claude Sonnet 4.5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" name="Google Shape;38;p4"/>
          <p:cNvCxnSpPr>
            <a:endCxn id="39" idx="0"/>
          </p:cNvCxnSpPr>
          <p:nvPr/>
        </p:nvCxnSpPr>
        <p:spPr>
          <a:xfrm>
            <a:off x="4572020" y="1371695"/>
            <a:ext cx="18300" cy="74520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dash"/>
            <a:round/>
            <a:headEnd len="sm" w="sm" type="none"/>
            <a:tailEnd len="med" w="med" type="triangle"/>
          </a:ln>
        </p:spPr>
      </p:cxnSp>
      <p:sp>
        <p:nvSpPr>
          <p:cNvPr id="40" name="Google Shape;40;p4"/>
          <p:cNvSpPr/>
          <p:nvPr/>
        </p:nvSpPr>
        <p:spPr>
          <a:xfrm>
            <a:off x="274320" y="1417320"/>
            <a:ext cx="3108960" cy="2926080"/>
          </a:xfrm>
          <a:prstGeom prst="rect">
            <a:avLst/>
          </a:prstGeom>
          <a:solidFill>
            <a:srgbClr val="1A2255"/>
          </a:solidFill>
          <a:ln cap="flat" cmpd="sng" w="9525">
            <a:solidFill>
              <a:srgbClr val="3D4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411480" y="1481328"/>
            <a:ext cx="2834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A3D4"/>
              </a:buClr>
              <a:buSzPts val="1100"/>
              <a:buFont typeface="Consolas"/>
              <a:buNone/>
            </a:pPr>
            <a:r>
              <a:rPr b="1" lang="en-US" sz="1100">
                <a:solidFill>
                  <a:srgbClr val="8AA3D4"/>
                </a:solidFill>
                <a:latin typeface="Consolas"/>
                <a:ea typeface="Consolas"/>
                <a:cs typeface="Consolas"/>
                <a:sym typeface="Consolas"/>
              </a:rPr>
              <a:t>Wanda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411480" y="1755648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9D"/>
              </a:buClr>
              <a:buSzPts val="1000"/>
              <a:buFont typeface="Consolas"/>
              <a:buNone/>
            </a:pPr>
            <a:r>
              <a:rPr b="1" lang="en-US" sz="1000">
                <a:solidFill>
                  <a:srgbClr val="FF6B9D"/>
                </a:solidFill>
                <a:latin typeface="Consolas"/>
                <a:ea typeface="Consolas"/>
                <a:cs typeface="Consolas"/>
                <a:sym typeface="Consolas"/>
              </a:rPr>
              <a:t>&gt; </a:t>
            </a:r>
            <a:r>
              <a:rPr lang="en-US"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wanda.investigate("pipeline-loadsale")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" name="Google Shape;43;p4"/>
          <p:cNvCxnSpPr/>
          <p:nvPr/>
        </p:nvCxnSpPr>
        <p:spPr>
          <a:xfrm>
            <a:off x="411480" y="2084832"/>
            <a:ext cx="2834640" cy="0"/>
          </a:xfrm>
          <a:prstGeom prst="straightConnector1">
            <a:avLst/>
          </a:prstGeom>
          <a:noFill/>
          <a:ln cap="flat" cmpd="sng" w="9525">
            <a:solidFill>
              <a:srgbClr val="3D4A8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4"/>
          <p:cNvSpPr/>
          <p:nvPr/>
        </p:nvSpPr>
        <p:spPr>
          <a:xfrm>
            <a:off x="411480" y="2194560"/>
            <a:ext cx="283464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9D"/>
              </a:buClr>
              <a:buSzPts val="1000"/>
              <a:buFont typeface="Consolas"/>
              <a:buNone/>
            </a:pPr>
            <a:r>
              <a:rPr b="1" lang="en-US" sz="1000">
                <a:solidFill>
                  <a:srgbClr val="FF6B9D"/>
                </a:solidFill>
                <a:latin typeface="Consolas"/>
                <a:ea typeface="Consolas"/>
                <a:cs typeface="Consolas"/>
                <a:sym typeface="Consolas"/>
              </a:rPr>
              <a:t>✗ Pipeline failed at LoadSalesStaging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nsolas"/>
              <a:buNone/>
            </a:pPr>
            <a:r>
              <a:rPr lang="en-US"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8AA3D4"/>
              </a:buClr>
              <a:buSzPts val="900"/>
              <a:buFont typeface="Consolas"/>
              <a:buNone/>
            </a:pPr>
            <a:r>
              <a:rPr b="1" lang="en-US" sz="900">
                <a:solidFill>
                  <a:srgbClr val="8AA3D4"/>
                </a:solidFill>
                <a:latin typeface="Consolas"/>
                <a:ea typeface="Consolas"/>
                <a:cs typeface="Consolas"/>
                <a:sym typeface="Consolas"/>
              </a:rPr>
              <a:t>ROOT CAUSE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nsolas"/>
              <a:buNone/>
            </a:pPr>
            <a:r>
              <a:rPr lang="en-US"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SQL error 208 — invalid object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nsolas"/>
              <a:buNone/>
            </a:pPr>
            <a:r>
              <a:rPr lang="en-US"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name 'dbo.SalesStaging'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nsolas"/>
              <a:buNone/>
            </a:pPr>
            <a:r>
              <a:rPr lang="en-US"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8AA3D4"/>
              </a:buClr>
              <a:buSzPts val="900"/>
              <a:buFont typeface="Consolas"/>
              <a:buNone/>
            </a:pPr>
            <a:r>
              <a:rPr b="1" lang="en-US" sz="900">
                <a:solidFill>
                  <a:srgbClr val="8AA3D4"/>
                </a:solidFill>
                <a:latin typeface="Consolas"/>
                <a:ea typeface="Consolas"/>
                <a:cs typeface="Consolas"/>
                <a:sym typeface="Consolas"/>
              </a:rPr>
              <a:t>EVIDENCE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nsolas"/>
              <a:buNone/>
            </a:pPr>
            <a:r>
              <a:rPr lang="en-US"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• Notebook cell 3 references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nsolas"/>
              <a:buNone/>
            </a:pPr>
            <a:r>
              <a:rPr lang="en-US"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the missing object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nsolas"/>
              <a:buNone/>
            </a:pPr>
            <a:r>
              <a:rPr lang="en-US"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• Schema rename 2h ago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5" name="Google Shape;45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23360" y="1920240"/>
            <a:ext cx="164592" cy="16459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6" name="Google Shape;46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49240" y="2011680"/>
            <a:ext cx="201168" cy="20116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7" name="Google Shape;47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31920" y="324612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4"/>
          <p:cNvSpPr/>
          <p:nvPr/>
        </p:nvSpPr>
        <p:spPr>
          <a:xfrm>
            <a:off x="3950270" y="2116895"/>
            <a:ext cx="1280100" cy="1188600"/>
          </a:xfrm>
          <a:prstGeom prst="rect">
            <a:avLst/>
          </a:prstGeom>
          <a:solidFill>
            <a:srgbClr val="1A2255"/>
          </a:solidFill>
          <a:ln cap="flat" cmpd="sng" w="15875">
            <a:solidFill>
              <a:srgbClr val="FF6B9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3886220" y="2969132"/>
            <a:ext cx="1280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Wanda Agent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9" name="Google Shape;49;p4"/>
          <p:cNvCxnSpPr/>
          <p:nvPr/>
        </p:nvCxnSpPr>
        <p:spPr>
          <a:xfrm>
            <a:off x="3383395" y="2697395"/>
            <a:ext cx="519600" cy="270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dash"/>
            <a:round/>
            <a:headEnd len="med" w="med" type="triangle"/>
            <a:tailEnd len="med" w="med" type="triangle"/>
          </a:ln>
        </p:spPr>
      </p:cxnSp>
      <p:cxnSp>
        <p:nvCxnSpPr>
          <p:cNvPr id="50" name="Google Shape;50;p4"/>
          <p:cNvCxnSpPr>
            <a:stCxn id="39" idx="3"/>
          </p:cNvCxnSpPr>
          <p:nvPr/>
        </p:nvCxnSpPr>
        <p:spPr>
          <a:xfrm flipH="1" rot="10800000">
            <a:off x="5230370" y="2697395"/>
            <a:ext cx="438900" cy="1380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dash"/>
            <a:round/>
            <a:headEnd len="sm" w="sm" type="none"/>
            <a:tailEnd len="med" w="med" type="triangle"/>
          </a:ln>
        </p:spPr>
      </p:cxnSp>
      <p:sp>
        <p:nvSpPr>
          <p:cNvPr id="51" name="Google Shape;51;p4"/>
          <p:cNvSpPr/>
          <p:nvPr/>
        </p:nvSpPr>
        <p:spPr>
          <a:xfrm>
            <a:off x="5669276" y="1417325"/>
            <a:ext cx="777300" cy="2926200"/>
          </a:xfrm>
          <a:prstGeom prst="rect">
            <a:avLst/>
          </a:prstGeom>
          <a:solidFill>
            <a:srgbClr val="1A2255">
              <a:alpha val="70196"/>
            </a:srgbClr>
          </a:solidFill>
          <a:ln cap="flat" cmpd="sng" w="15875">
            <a:solidFill>
              <a:srgbClr val="FF6B9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2" name="Google Shape;52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32120" y="1280160"/>
            <a:ext cx="182880" cy="1828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3" name="Google Shape;53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60720" y="1207008"/>
            <a:ext cx="146304" cy="146304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4"/>
          <p:cNvSpPr/>
          <p:nvPr/>
        </p:nvSpPr>
        <p:spPr>
          <a:xfrm>
            <a:off x="5669276" y="1417325"/>
            <a:ext cx="777300" cy="292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Model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40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Context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40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Protocol</a:t>
            </a:r>
            <a:endParaRPr b="1" sz="1400">
              <a:solidFill>
                <a:srgbClr val="CADCF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40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alibri"/>
              <a:buNone/>
            </a:pPr>
            <a:r>
              <a:rPr b="1" lang="en-US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Server</a:t>
            </a:r>
            <a:endParaRPr b="1">
              <a:solidFill>
                <a:srgbClr val="CADCF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alibri"/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6766560" y="1417320"/>
            <a:ext cx="2103120" cy="777240"/>
          </a:xfrm>
          <a:prstGeom prst="rect">
            <a:avLst/>
          </a:prstGeom>
          <a:solidFill>
            <a:srgbClr val="CADCFC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6" name="Google Shape;56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903720" y="1613916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4"/>
          <p:cNvSpPr/>
          <p:nvPr/>
        </p:nvSpPr>
        <p:spPr>
          <a:xfrm>
            <a:off x="7360920" y="1508760"/>
            <a:ext cx="14173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Fabric REST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7360920" y="1746504"/>
            <a:ext cx="1417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07A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A607A"/>
                </a:solidFill>
                <a:latin typeface="Calibri"/>
                <a:ea typeface="Calibri"/>
                <a:cs typeface="Calibri"/>
                <a:sym typeface="Calibri"/>
              </a:rPr>
              <a:t>pipelines, runs, items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6766560" y="2468880"/>
            <a:ext cx="2103120" cy="777240"/>
          </a:xfrm>
          <a:prstGeom prst="rect">
            <a:avLst/>
          </a:prstGeom>
          <a:solidFill>
            <a:srgbClr val="CADCFC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0" name="Google Shape;60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903720" y="2665476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4"/>
          <p:cNvSpPr/>
          <p:nvPr/>
        </p:nvSpPr>
        <p:spPr>
          <a:xfrm>
            <a:off x="7360920" y="2560320"/>
            <a:ext cx="14173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SQL endpoint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7360920" y="2798064"/>
            <a:ext cx="1417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07A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A607A"/>
                </a:solidFill>
                <a:latin typeface="Calibri"/>
                <a:ea typeface="Calibri"/>
                <a:cs typeface="Calibri"/>
                <a:sym typeface="Calibri"/>
              </a:rPr>
              <a:t>schema and data queries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4"/>
          <p:cNvSpPr/>
          <p:nvPr/>
        </p:nvSpPr>
        <p:spPr>
          <a:xfrm>
            <a:off x="6766560" y="3520440"/>
            <a:ext cx="2103120" cy="777240"/>
          </a:xfrm>
          <a:prstGeom prst="rect">
            <a:avLst/>
          </a:prstGeom>
          <a:solidFill>
            <a:srgbClr val="CADCFC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4" name="Google Shape;64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903720" y="3717036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4"/>
          <p:cNvSpPr/>
          <p:nvPr/>
        </p:nvSpPr>
        <p:spPr>
          <a:xfrm>
            <a:off x="7360920" y="3611880"/>
            <a:ext cx="14173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Notebooks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7360920" y="3849624"/>
            <a:ext cx="1417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07A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A607A"/>
                </a:solidFill>
                <a:latin typeface="Calibri"/>
                <a:ea typeface="Calibri"/>
                <a:cs typeface="Calibri"/>
                <a:sym typeface="Calibri"/>
              </a:rPr>
              <a:t>source, syntax, references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7" name="Google Shape;67;p4"/>
          <p:cNvCxnSpPr/>
          <p:nvPr/>
        </p:nvCxnSpPr>
        <p:spPr>
          <a:xfrm>
            <a:off x="6446520" y="2103120"/>
            <a:ext cx="320040" cy="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dash"/>
            <a:round/>
            <a:headEnd len="sm" w="sm" type="none"/>
            <a:tailEnd len="med" w="med" type="triangle"/>
          </a:ln>
        </p:spPr>
      </p:cxnSp>
      <p:cxnSp>
        <p:nvCxnSpPr>
          <p:cNvPr id="68" name="Google Shape;68;p4"/>
          <p:cNvCxnSpPr/>
          <p:nvPr/>
        </p:nvCxnSpPr>
        <p:spPr>
          <a:xfrm>
            <a:off x="6446520" y="2834640"/>
            <a:ext cx="320040" cy="4572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dash"/>
            <a:round/>
            <a:headEnd len="sm" w="sm" type="none"/>
            <a:tailEnd len="med" w="med" type="triangle"/>
          </a:ln>
        </p:spPr>
      </p:cxnSp>
      <p:cxnSp>
        <p:nvCxnSpPr>
          <p:cNvPr id="69" name="Google Shape;69;p4"/>
          <p:cNvCxnSpPr/>
          <p:nvPr/>
        </p:nvCxnSpPr>
        <p:spPr>
          <a:xfrm>
            <a:off x="6446520" y="3566160"/>
            <a:ext cx="320040" cy="32004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dash"/>
            <a:round/>
            <a:headEnd len="sm" w="sm" type="none"/>
            <a:tailEnd len="med" w="med" type="triangle"/>
          </a:ln>
        </p:spPr>
      </p:cxnSp>
      <p:sp>
        <p:nvSpPr>
          <p:cNvPr id="70" name="Google Shape;70;p4"/>
          <p:cNvSpPr/>
          <p:nvPr/>
        </p:nvSpPr>
        <p:spPr>
          <a:xfrm>
            <a:off x="274320" y="4343400"/>
            <a:ext cx="4206240" cy="502920"/>
          </a:xfrm>
          <a:prstGeom prst="rect">
            <a:avLst/>
          </a:prstGeom>
          <a:solidFill>
            <a:srgbClr val="1A2255"/>
          </a:solidFill>
          <a:ln cap="flat" cmpd="sng" w="9525">
            <a:solidFill>
              <a:srgbClr val="3D4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1" name="Google Shape;71;p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84048" y="4416552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4"/>
          <p:cNvSpPr/>
          <p:nvPr/>
        </p:nvSpPr>
        <p:spPr>
          <a:xfrm>
            <a:off x="713232" y="4370832"/>
            <a:ext cx="1645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AGENTS.md persona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4"/>
          <p:cNvSpPr/>
          <p:nvPr/>
        </p:nvSpPr>
        <p:spPr>
          <a:xfrm>
            <a:off x="713232" y="4572000"/>
            <a:ext cx="370332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 Pre-run scan   •  Post-failure investigation   •  Evidence-backed report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4919472" y="4443982"/>
            <a:ext cx="3950208" cy="402337"/>
          </a:xfrm>
          <a:prstGeom prst="rect">
            <a:avLst/>
          </a:prstGeom>
          <a:solidFill>
            <a:srgbClr val="0F1538"/>
          </a:solidFill>
          <a:ln cap="flat" cmpd="sng" w="15875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4800600" y="4375911"/>
            <a:ext cx="4206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Make decisions:  </a:t>
            </a:r>
            <a:r>
              <a:rPr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goal-driven investigation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274320" y="4919472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A3D4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8AA3D4"/>
                </a:solidFill>
                <a:latin typeface="Calibri"/>
                <a:ea typeface="Calibri"/>
                <a:cs typeface="Calibri"/>
                <a:sym typeface="Calibri"/>
              </a:rPr>
              <a:t>GitHub Copilot SDK  ·  </a:t>
            </a:r>
            <a:r>
              <a:rPr b="1" lang="en-US" sz="9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MCP servers</a:t>
            </a:r>
            <a:r>
              <a:rPr lang="en-US" sz="900">
                <a:solidFill>
                  <a:srgbClr val="8AA3D4"/>
                </a:solidFill>
                <a:latin typeface="Calibri"/>
                <a:ea typeface="Calibri"/>
                <a:cs typeface="Calibri"/>
                <a:sym typeface="Calibri"/>
              </a:rPr>
              <a:t>  ·  AGENTS.md  ·  Microsoft Fabric  ·  Python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4"/>
          <p:cNvSpPr/>
          <p:nvPr/>
        </p:nvSpPr>
        <p:spPr>
          <a:xfrm>
            <a:off x="5943600" y="4919472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00"/>
              <a:buFont typeface="Consolas"/>
              <a:buNone/>
            </a:pPr>
            <a:r>
              <a:rPr b="1" lang="en-US" sz="900">
                <a:solidFill>
                  <a:srgbClr val="CADCFC"/>
                </a:solidFill>
                <a:latin typeface="Consolas"/>
                <a:ea typeface="Consolas"/>
                <a:cs typeface="Consolas"/>
                <a:sym typeface="Consolas"/>
              </a:rPr>
              <a:t>github.com/&lt;your-handle&gt;/wanda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File:Upload fi khater taher.png - Wikimedia Commons" id="78" name="Google Shape;78;p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205900" y="2247572"/>
            <a:ext cx="721550" cy="721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